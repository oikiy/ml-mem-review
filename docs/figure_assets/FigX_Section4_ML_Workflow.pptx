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Figure X. Closed-loop ML workflow for membrane inverse design (Section 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594360"/>
            <a:ext cx="7818120" cy="196596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A88"/>
                </a:solidFill>
                <a:latin typeface="Calibri"/>
              </a:rPr>
              <a:t>DATA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88920"/>
            <a:ext cx="7818120" cy="1828800"/>
          </a:xfrm>
          <a:prstGeom prst="roundRect">
            <a:avLst>
              <a:gd name="adj" fmla="val 5000"/>
            </a:avLst>
          </a:prstGeom>
          <a:solidFill>
            <a:srgbClr val="F3EFF8"/>
          </a:solidFill>
          <a:ln w="12700">
            <a:solidFill>
              <a:srgbClr val="5B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4B8A"/>
                </a:solidFill>
                <a:latin typeface="Calibri"/>
              </a:rPr>
              <a:t>MODEL &amp; IN SILICO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846320"/>
            <a:ext cx="7818120" cy="160020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92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F6B4F"/>
                </a:solidFill>
                <a:latin typeface="Calibri"/>
              </a:rPr>
              <a:t>EXPERIMENT &amp; CLOSED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D6E6F5"/>
          </a:solidFill>
          <a:ln w="1905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5A88"/>
                </a:solidFill>
                <a:latin typeface="Calibri"/>
              </a:rPr>
              <a:t>1. Objectives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KPIs, constraints,
lab limits</a:t>
            </a:r>
          </a:p>
        </p:txBody>
      </p:sp>
      <p:sp>
        <p:nvSpPr>
          <p:cNvPr id="10" name="Oval 9"/>
          <p:cNvSpPr/>
          <p:nvPr/>
        </p:nvSpPr>
        <p:spPr>
          <a:xfrm>
            <a:off x="402336" y="996696"/>
            <a:ext cx="256032" cy="256032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05156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D6E6F5"/>
          </a:solidFill>
          <a:ln w="1905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5A88"/>
                </a:solidFill>
                <a:latin typeface="Calibri"/>
              </a:rPr>
              <a:t>2. Data schema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Ingest recipes
→ tables</a:t>
            </a:r>
          </a:p>
        </p:txBody>
      </p:sp>
      <p:sp>
        <p:nvSpPr>
          <p:cNvPr id="12" name="Oval 11"/>
          <p:cNvSpPr/>
          <p:nvPr/>
        </p:nvSpPr>
        <p:spPr>
          <a:xfrm>
            <a:off x="2276856" y="996696"/>
            <a:ext cx="256032" cy="256032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05156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D6E6F5"/>
          </a:solidFill>
          <a:ln w="1905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5A88"/>
                </a:solidFill>
                <a:latin typeface="Calibri"/>
              </a:rPr>
              <a:t>3. Inspect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Missing, dups,
outliers</a:t>
            </a:r>
          </a:p>
        </p:txBody>
      </p:sp>
      <p:sp>
        <p:nvSpPr>
          <p:cNvPr id="14" name="Oval 13"/>
          <p:cNvSpPr/>
          <p:nvPr/>
        </p:nvSpPr>
        <p:spPr>
          <a:xfrm>
            <a:off x="4151376" y="996696"/>
            <a:ext cx="256032" cy="256032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05156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D6E6F5"/>
          </a:solidFill>
          <a:ln w="19050"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5A88"/>
                </a:solidFill>
                <a:latin typeface="Calibri"/>
              </a:rPr>
              <a:t>4. FE + EDA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Descriptors,
correlations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025896" y="996696"/>
            <a:ext cx="256032" cy="256032"/>
          </a:xfrm>
          <a:prstGeom prst="ellipse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7128" y="1508760"/>
            <a:ext cx="164592" cy="128016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041648" y="1508760"/>
            <a:ext cx="164592" cy="128016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916168" y="1508760"/>
            <a:ext cx="164592" cy="128016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20040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E8E2F4"/>
          </a:solidFill>
          <a:ln w="19050">
            <a:solidFill>
              <a:srgbClr val="5B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B4B8A"/>
                </a:solidFill>
                <a:latin typeface="Calibri"/>
              </a:rPr>
              <a:t>5. Surrogate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Train / CV /
parity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" y="3145536"/>
            <a:ext cx="256032" cy="256032"/>
          </a:xfrm>
          <a:prstGeom prst="ellipse">
            <a:avLst/>
          </a:prstGeom>
          <a:solidFill>
            <a:srgbClr val="5B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20040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E8E2F4"/>
          </a:solidFill>
          <a:ln w="19050">
            <a:solidFill>
              <a:srgbClr val="5B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B4B8A"/>
                </a:solidFill>
                <a:latin typeface="Calibri"/>
              </a:rPr>
              <a:t>6. xAI (SHAP)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Process drivers,
plausibility</a:t>
            </a:r>
          </a:p>
        </p:txBody>
      </p:sp>
      <p:sp>
        <p:nvSpPr>
          <p:cNvPr id="23" name="Oval 22"/>
          <p:cNvSpPr/>
          <p:nvPr/>
        </p:nvSpPr>
        <p:spPr>
          <a:xfrm>
            <a:off x="2276856" y="3145536"/>
            <a:ext cx="256032" cy="256032"/>
          </a:xfrm>
          <a:prstGeom prst="ellipse">
            <a:avLst/>
          </a:prstGeom>
          <a:solidFill>
            <a:srgbClr val="5B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20040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E8E2F4"/>
          </a:solidFill>
          <a:ln w="19050">
            <a:solidFill>
              <a:srgbClr val="5B4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B4B8A"/>
                </a:solidFill>
                <a:latin typeface="Calibri"/>
              </a:rPr>
              <a:t>7. Inverse design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Screen + BO
search space</a:t>
            </a:r>
          </a:p>
        </p:txBody>
      </p:sp>
      <p:sp>
        <p:nvSpPr>
          <p:cNvPr id="25" name="Oval 24"/>
          <p:cNvSpPr/>
          <p:nvPr/>
        </p:nvSpPr>
        <p:spPr>
          <a:xfrm>
            <a:off x="4151376" y="3145536"/>
            <a:ext cx="256032" cy="256032"/>
          </a:xfrm>
          <a:prstGeom prst="ellipse">
            <a:avLst/>
          </a:prstGeom>
          <a:solidFill>
            <a:srgbClr val="5B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167128" y="3657600"/>
            <a:ext cx="164592" cy="128016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4041648" y="3657600"/>
            <a:ext cx="164592" cy="128016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2402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↓ to modeling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675120" y="2148840"/>
            <a:ext cx="201168" cy="502920"/>
          </a:xfrm>
          <a:prstGeom prst="down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1097280" y="2606040"/>
            <a:ext cx="182880" cy="320040"/>
          </a:xfrm>
          <a:prstGeom prst="downArrow">
            <a:avLst/>
          </a:prstGeom>
          <a:solidFill>
            <a:srgbClr val="5B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25780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D9EEE3"/>
          </a:solidFill>
          <a:ln w="1905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F6B4F"/>
                </a:solidFill>
                <a:latin typeface="Calibri"/>
              </a:rPr>
              <a:t>8. Validate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Fabricate &amp;
test KPIs</a:t>
            </a:r>
          </a:p>
        </p:txBody>
      </p:sp>
      <p:sp>
        <p:nvSpPr>
          <p:cNvPr id="32" name="Oval 31"/>
          <p:cNvSpPr/>
          <p:nvPr/>
        </p:nvSpPr>
        <p:spPr>
          <a:xfrm>
            <a:off x="402336" y="5202936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1720" y="5257800"/>
            <a:ext cx="1691640" cy="1051560"/>
          </a:xfrm>
          <a:prstGeom prst="roundRect">
            <a:avLst>
              <a:gd name="adj" fmla="val 15000"/>
            </a:avLst>
          </a:prstGeom>
          <a:solidFill>
            <a:srgbClr val="D9EEE3"/>
          </a:solidFill>
          <a:ln w="1905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F6B4F"/>
                </a:solidFill>
                <a:latin typeface="Calibri"/>
              </a:rPr>
              <a:t>9. Refine</a:t>
            </a:r>
          </a:p>
          <a:p>
            <a:pPr algn="ctr"/>
            <a:r>
              <a:rPr sz="900" b="0">
                <a:solidFill>
                  <a:srgbClr val="4A4A4A"/>
                </a:solidFill>
                <a:latin typeface="Calibri"/>
              </a:rPr>
              <a:t>Update data &amp;
retrain</a:t>
            </a:r>
          </a:p>
        </p:txBody>
      </p:sp>
      <p:sp>
        <p:nvSpPr>
          <p:cNvPr id="34" name="Oval 33"/>
          <p:cNvSpPr/>
          <p:nvPr/>
        </p:nvSpPr>
        <p:spPr>
          <a:xfrm>
            <a:off x="2276856" y="5202936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167128" y="5715000"/>
            <a:ext cx="164592" cy="128016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4892040" y="4343400"/>
            <a:ext cx="201168" cy="365760"/>
          </a:xfrm>
          <a:prstGeom prst="downArrow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Calibri"/>
              </a:rPr>
              <a:t>candidates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4160520" y="5623560"/>
            <a:ext cx="1828800" cy="25603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Up Arrow 38"/>
          <p:cNvSpPr/>
          <p:nvPr/>
        </p:nvSpPr>
        <p:spPr>
          <a:xfrm>
            <a:off x="4160520" y="1280160"/>
            <a:ext cx="256032" cy="4480560"/>
          </a:xfrm>
          <a:prstGeom prst="upArrow">
            <a:avLst/>
          </a:prstGeom>
          <a:solidFill>
            <a:srgbClr val="E8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34747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45C26"/>
                </a:solidFill>
                <a:latin typeface="Calibri"/>
              </a:rPr>
              <a:t>FEEDBACK
new recipes,
KPIs, failures
→ schema (2)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246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4A4A"/>
                </a:solidFill>
                <a:latin typeface="Calibri"/>
              </a:rPr>
              <a:t>dashed (optional):
6→4 feature audit
6→7 plausibility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594360"/>
            <a:ext cx="3566160" cy="4937760"/>
          </a:xfrm>
          <a:prstGeom prst="roundRect">
            <a:avLst>
              <a:gd name="adj" fmla="val 6000"/>
            </a:avLst>
          </a:prstGeom>
          <a:solidFill>
            <a:srgbClr val="FFF8EE"/>
          </a:solidFill>
          <a:ln w="254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731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</a:rPr>
              <a:t>COMPANION CODE (tabular core)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1430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Maps primarily to Steps 4–7:
1. config.yaml
   • data.targets
   • features.include | auto
   • optimization.search_space
2. run_pipeline
   EDA → train → SHAP → Ax BO
3. Inputs
   Structured recipe–KPI tables
   (+ lookups / physics features)
4. Not default path
   Image / multimodal models
   (reviewed in §3 only)
Examples 01–05 + Colab notebooks
implement this loop on toy data.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Calibri"/>
              </a:rPr>
              <a:t>Legend: blue = data (1–4) · purple = model/design (5–7) · green = experiment (8–9) · orange = closed-loop feedback (9→2). Redraw connectors as elbow arrows in Slide Master if needed for journal vector export.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Figure X — coordinate specification (inches from top-left; slide 13.333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SLIDE: 13.333 in (W) × 7.5 in (H)  |  margins ~0.3 in
BANDS (background rounded rects)
  Data foundation     left=0.30  top=0.65  w=8.55  h=2.15   stroke=#2E5A88  fill=#EEF4FA
  Model &amp; design      left=0.30  top=3.05  w=8.55  h=2.00   stroke=#5B4B8A  fill=#F3EFF8
  Experiment &amp; loop   left=0.30  top=5.30  w=8.55  h=1.75   stroke=#2F6B4F  fill=#EEF7F1
STEP BOXES (each w=1.85  h=1.15); number badge oval 0.28×0.28 at (left-0.06, top-0.06)
  Step 1 Objectives    left=0.50  top=1.15
  Step 2 Data schema   left=2.55  top=1.15
  Step 3 Inspect       left=4.60  top=1.15
  Step 4 FE + EDA      left=6.65  top=1.15
  Step 5 Surrogate     left=0.50  top=3.50
  Step 6 xAI (SHAP)    left=2.55  top=3.50
  Step 7 Inverse des.  left=4.60  top=3.50
  Step 8 Validate      left=0.50  top=5.75
  Step 9 Refine        left=2.55  top=5.75
FORWARD ARROWS (RIGHT_ARROW h=0.14)
  1→2 at x=2.37 y=1.65  len=0.18
  2→3 at x=4.42 y=1.65  len=0.18
  3→4 at x=6.47 y=1.65  len=0.18
  5→6 at x=2.37 y=4.00  len=0.18
  6→7 at x=4.42 y=4.00  len=0.18
  8→9 at x=2.37 y=6.25  len=0.18
VERTICAL LINKS (DOWN_ARROW)
  Into modeling        left=1.20  top=2.85  w=0.20  h=0.35
  From step 4          left=7.30  top=2.35  w=0.22  h=0.55
  7 → experiment       left=5.35  top=4.75  w=0.22  h=0.40
FEEDBACK (9→2)
  UP_ARROW             left=4.55  top=1.40  w=0.28  h=4.90   color=#E8A06B
  Label                left=4.85  top=3.80  w=1.70  h=0.90
CALLOUT PANEL (right)
  Box                  left=9.10  top=0.65  w=3.90  h=5.40   stroke=#C45C26  fill=#FFF8EE
  Title                left=9.25  top=0.80
  Body                 left=9.25  top=1.25  w=3.60  h=4.50
FONTS
  Slide title: Calibri 16 pt bold
  Band labels: Calibri 10 pt bold (band color)
  Step titles: Calibri 11 pt bold (band color)
  Step subtitles: Calibri 9 pt gray #4A4A4A
  Callout body: Calibri 11 pt
  Footer legend: Calibri 9 pt gray
EXPORT FOR JOURNAL
  File → Save As → PDF (or copy slide to Illustrator/Inkscape)
  Or select all → paste into PowerPoint and ungroup for final arrow elbows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